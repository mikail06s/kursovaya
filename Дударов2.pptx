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4F4287-F708-410E-B465-EA2CE415F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98906"/>
            <a:ext cx="8791575" cy="2387600"/>
          </a:xfrm>
        </p:spPr>
        <p:txBody>
          <a:bodyPr/>
          <a:lstStyle/>
          <a:p>
            <a:r>
              <a:rPr lang="ru-RU" dirty="0" err="1"/>
              <a:t>Чупо</a:t>
            </a:r>
            <a:r>
              <a:rPr lang="ru-RU" dirty="0"/>
              <a:t> </a:t>
            </a:r>
            <a:r>
              <a:rPr lang="en-US" dirty="0"/>
              <a:t>“</a:t>
            </a:r>
            <a:r>
              <a:rPr lang="ru-RU" dirty="0"/>
              <a:t>ВШП</a:t>
            </a:r>
            <a:r>
              <a:rPr lang="en-US" dirty="0"/>
              <a:t>” </a:t>
            </a:r>
            <a:r>
              <a:rPr lang="ru-RU" dirty="0" err="1"/>
              <a:t>КуРсовой</a:t>
            </a:r>
            <a:r>
              <a:rPr lang="ru-RU" dirty="0"/>
              <a:t> проект</a:t>
            </a:r>
            <a:br>
              <a:rPr lang="ru-RU" dirty="0"/>
            </a:br>
            <a:r>
              <a:rPr lang="ru-RU" sz="2000" dirty="0"/>
              <a:t>Разработка базы данных для тренировки </a:t>
            </a:r>
            <a:r>
              <a:rPr lang="ru-RU" sz="2000" dirty="0" err="1"/>
              <a:t>спордсменов</a:t>
            </a:r>
            <a:endParaRPr lang="ru-RU" sz="2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7B1575-F80F-4452-867C-AE3763C42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3" y="4558310"/>
            <a:ext cx="8791575" cy="1655762"/>
          </a:xfrm>
        </p:spPr>
        <p:txBody>
          <a:bodyPr>
            <a:normAutofit/>
          </a:bodyPr>
          <a:lstStyle/>
          <a:p>
            <a:r>
              <a:rPr lang="ru-RU" sz="2400" dirty="0"/>
              <a:t>Дударов Микаэль </a:t>
            </a:r>
            <a:r>
              <a:rPr lang="ru-RU" sz="2400" dirty="0" err="1"/>
              <a:t>Вахаевич</a:t>
            </a:r>
            <a:r>
              <a:rPr lang="ru-RU" sz="2400" dirty="0"/>
              <a:t> </a:t>
            </a:r>
            <a:br>
              <a:rPr lang="ru-RU" sz="2400" dirty="0"/>
            </a:br>
            <a:r>
              <a:rPr lang="ru-RU" sz="2400" dirty="0"/>
              <a:t>МДК 11.01</a:t>
            </a:r>
            <a:r>
              <a:rPr lang="en-US" sz="2400" dirty="0"/>
              <a:t>- </a:t>
            </a:r>
            <a:r>
              <a:rPr lang="ru-RU" sz="2400" dirty="0"/>
              <a:t>технология разработки базы данных </a:t>
            </a: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35518ACF-C700-4764-8ACB-E1DB03C33BEF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168900" y="2635250"/>
            <a:ext cx="1854200" cy="15875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96726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8F77A-7BF3-47D3-B78D-70B931AD8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Актуальность</a:t>
            </a:r>
            <a:br>
              <a:rPr lang="ru-RU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5BB5A4-3043-4400-B7D2-0000FBC98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Почему это важно?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Современный спорт требует систематизации больших объёмов данных: результаты тренировок, соревнований, физические показатели.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Бумажные журналы и электронные таблицы не обеспечивают оперативного доступа, анализа и преемственности.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Специализированная база данных позволяет централизовать информацию, автоматизировать расчёты и строить прогнозы.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Решение может быть использовано спортивными клубами, федерациями, учебными заведениями.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2948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ADC394-E1FF-4D26-9034-8207A0474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 Цель и задачи</a:t>
            </a:r>
            <a:br>
              <a:rPr lang="ru-RU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0702FF-F096-440A-AC8E-6E7280CF6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Цель работы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– разработать реляционную базу данных для системы учёта и анализа тренировок спортсменов с использованием СУБД MySQL.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Задачи: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Изучить теорию проектирования реляционных БД.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Проанализировать предметную область.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Спроектировать структуру БД в 3NF.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Реализовать таблицы, индексы, ограничения.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Разработать хранимые процедуры и функции.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Создать триггеры и представления.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Провести тестирование.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4677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46854E-6712-43E4-9D61-2CFBC69A8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Объект и предмет исследования</a:t>
            </a:r>
            <a:br>
              <a:rPr lang="ru-RU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6D0556-4B38-4321-9BC5-D996C7BC7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Объект исследования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– тренировочный процесс спортсменов в различных видах спорта.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Предмет исследования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– методы организации, хранения и обработки данных о тренировках, соревнованиях и результатах с использованием реляционных БД.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6179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F9EE7-1A21-48BB-AEC3-C028E8572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Теоретические основы (кратко)</a:t>
            </a:r>
            <a:br>
              <a:rPr lang="ru-RU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63C31A-4D54-449B-B77F-EDC99A8C6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Реляционная модель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– данные представлены в виде таблиц (отношений).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Нормализация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– устранение избыточности (1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NF, 2NF, 3NF).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Все таблицы спроектированы в 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3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NF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Целостность данных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Доменная (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CHECK, ENUM)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Сущностная (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PRIMARY KEY, UNIQUE)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Ссылочная (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FOREIGN KEY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с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CASCADE)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Транзакции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– свойства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ACID (Atomicity, Consistency, Isolation, Durability).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7335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22FDCF-B495-4CF5-B06A-6ED81689E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 Выбор СУБД и инструментов</a:t>
            </a:r>
            <a:br>
              <a:rPr lang="ru-RU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CA825E-CD98-4C2B-B6C5-5683C678F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СУБД: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MySQL 8.0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Бесплатная, надёжная, производительная.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Поддержка транзакций (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InnoDB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), внешних ключей, хранимых процедур, триггеров.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Инструменты управления: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MySQL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Workbench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, командная строка.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Альтернативы: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PostgreSQL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(мощнее, но сложнее),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SQLite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(не подходит для многопользовательской работы).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276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50D124-23F9-4458-85DF-F8E2F1770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9FAFB"/>
                </a:solidFill>
                <a:effectLst/>
                <a:latin typeface="quote-cjk-patch"/>
              </a:rPr>
              <a:t> ER-</a:t>
            </a:r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диаграмма</a:t>
            </a:r>
            <a:br>
              <a:rPr lang="ru-RU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9B3F2F-1B6E-4A0E-89E7-3862EF5FE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Основные сущности и связи: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Clubs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(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клубы) → 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Athletes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(1:N)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Athletes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→ </a:t>
            </a:r>
            <a:r>
              <a:rPr lang="en-US" b="1" i="0" dirty="0" err="1">
                <a:solidFill>
                  <a:srgbClr val="F9FAFB"/>
                </a:solidFill>
                <a:effectLst/>
                <a:latin typeface="quote-cjk-patch"/>
              </a:rPr>
              <a:t>Training_sessions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(1:N)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Coaches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→ </a:t>
            </a:r>
            <a:r>
              <a:rPr lang="en-US" b="1" i="0" dirty="0" err="1">
                <a:solidFill>
                  <a:srgbClr val="F9FAFB"/>
                </a:solidFill>
                <a:effectLst/>
                <a:latin typeface="quote-cjk-patch"/>
              </a:rPr>
              <a:t>Training_sessions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(1:N)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Sports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→ </a:t>
            </a:r>
            <a:r>
              <a:rPr lang="en-US" b="1" i="0" dirty="0" err="1">
                <a:solidFill>
                  <a:srgbClr val="F9FAFB"/>
                </a:solidFill>
                <a:effectLst/>
                <a:latin typeface="quote-cjk-patch"/>
              </a:rPr>
              <a:t>Training_sessions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(1:N)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Sports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→ 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Competitions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(1:N)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Athletes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→ 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Results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(1:N)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Competitions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→ 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Results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(1:N)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0633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EBD955-D26F-4073-BF76-B1A4041F3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Логическая структура</a:t>
            </a:r>
            <a:br>
              <a:rPr lang="ru-RU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27D5CF64-DE65-4312-8703-CC47FB08DC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1188264"/>
              </p:ext>
            </p:extLst>
          </p:nvPr>
        </p:nvGraphicFramePr>
        <p:xfrm>
          <a:off x="1141412" y="2249490"/>
          <a:ext cx="9905998" cy="3541708"/>
        </p:xfrm>
        <a:graphic>
          <a:graphicData uri="http://schemas.openxmlformats.org/drawingml/2006/table">
            <a:tbl>
              <a:tblPr/>
              <a:tblGrid>
                <a:gridCol w="4952999">
                  <a:extLst>
                    <a:ext uri="{9D8B030D-6E8A-4147-A177-3AD203B41FA5}">
                      <a16:colId xmlns:a16="http://schemas.microsoft.com/office/drawing/2014/main" val="2475687260"/>
                    </a:ext>
                  </a:extLst>
                </a:gridCol>
                <a:gridCol w="4952999">
                  <a:extLst>
                    <a:ext uri="{9D8B030D-6E8A-4147-A177-3AD203B41FA5}">
                      <a16:colId xmlns:a16="http://schemas.microsoft.com/office/drawing/2014/main" val="3143564445"/>
                    </a:ext>
                  </a:extLst>
                </a:gridCol>
              </a:tblGrid>
              <a:tr h="269718">
                <a:tc>
                  <a:txBody>
                    <a:bodyPr/>
                    <a:lstStyle/>
                    <a:p>
                      <a:pPr algn="l"/>
                      <a:r>
                        <a:rPr lang="ru-RU" sz="1000" b="0">
                          <a:effectLst/>
                          <a:latin typeface="quote-cjk-patch"/>
                        </a:rPr>
                        <a:t>Таблица</a:t>
                      </a:r>
                    </a:p>
                  </a:txBody>
                  <a:tcPr marL="53059" marR="88432" marT="55270" marB="55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>
                          <a:effectLst/>
                          <a:latin typeface="quote-cjk-patch"/>
                        </a:rPr>
                        <a:t>Назначение</a:t>
                      </a:r>
                    </a:p>
                  </a:txBody>
                  <a:tcPr marL="88432" marR="88432" marT="55270" marB="55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780872"/>
                  </a:ext>
                </a:extLst>
              </a:tr>
              <a:tr h="428896"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quote-cjk-patch"/>
                        </a:rPr>
                        <a:t>clubs</a:t>
                      </a:r>
                    </a:p>
                  </a:txBody>
                  <a:tcPr marL="53059" marR="88432" marT="55270" marB="55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quote-cjk-patch"/>
                        </a:rPr>
                        <a:t>Спортивные клубы (название, город, год основания)</a:t>
                      </a:r>
                    </a:p>
                  </a:txBody>
                  <a:tcPr marL="88432" marR="53059" marT="55270" marB="55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454045"/>
                  </a:ext>
                </a:extLst>
              </a:tr>
              <a:tr h="428896"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quote-cjk-patch"/>
                        </a:rPr>
                        <a:t>athletes</a:t>
                      </a:r>
                    </a:p>
                  </a:txBody>
                  <a:tcPr marL="53059" marR="88432" marT="55270" marB="55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quote-cjk-patch"/>
                        </a:rPr>
                        <a:t>Спортсмены (ФИО, дата рождения, пол, контакты, клуб)</a:t>
                      </a:r>
                    </a:p>
                  </a:txBody>
                  <a:tcPr marL="88432" marR="53059" marT="55270" marB="55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808071"/>
                  </a:ext>
                </a:extLst>
              </a:tr>
              <a:tr h="428896">
                <a:tc>
                  <a:txBody>
                    <a:bodyPr/>
                    <a:lstStyle/>
                    <a:p>
                      <a:r>
                        <a:rPr lang="en-US" sz="1000" b="0" dirty="0">
                          <a:effectLst/>
                          <a:latin typeface="quote-cjk-patch"/>
                        </a:rPr>
                        <a:t>coaches</a:t>
                      </a:r>
                    </a:p>
                  </a:txBody>
                  <a:tcPr marL="53059" marR="88432" marT="55270" marB="55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quote-cjk-patch"/>
                        </a:rPr>
                        <a:t>Тренеры (ФИО, специализация, контакты)</a:t>
                      </a:r>
                    </a:p>
                  </a:txBody>
                  <a:tcPr marL="88432" marR="53059" marT="55270" marB="55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572490"/>
                  </a:ext>
                </a:extLst>
              </a:tr>
              <a:tr h="428896">
                <a:tc>
                  <a:txBody>
                    <a:bodyPr/>
                    <a:lstStyle/>
                    <a:p>
                      <a:r>
                        <a:rPr lang="en-US" sz="1000" b="0" dirty="0">
                          <a:effectLst/>
                          <a:latin typeface="quote-cjk-patch"/>
                        </a:rPr>
                        <a:t>sports</a:t>
                      </a:r>
                    </a:p>
                  </a:txBody>
                  <a:tcPr marL="53059" marR="88432" marT="55270" marB="55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quote-cjk-patch"/>
                        </a:rPr>
                        <a:t>Виды спорта (название, категория)</a:t>
                      </a:r>
                    </a:p>
                  </a:txBody>
                  <a:tcPr marL="88432" marR="53059" marT="55270" marB="55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160484"/>
                  </a:ext>
                </a:extLst>
              </a:tr>
              <a:tr h="428896"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quote-cjk-patch"/>
                        </a:rPr>
                        <a:t>training_sessions</a:t>
                      </a:r>
                    </a:p>
                  </a:txBody>
                  <a:tcPr marL="53059" marR="88432" marT="55270" marB="55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quote-cjk-patch"/>
                        </a:rPr>
                        <a:t>Тренировки (дата, длительность, интенсивность, связи)</a:t>
                      </a:r>
                    </a:p>
                  </a:txBody>
                  <a:tcPr marL="88432" marR="53059" marT="55270" marB="55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108185"/>
                  </a:ext>
                </a:extLst>
              </a:tr>
              <a:tr h="428896"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quote-cjk-patch"/>
                        </a:rPr>
                        <a:t>competitions</a:t>
                      </a:r>
                    </a:p>
                  </a:txBody>
                  <a:tcPr marL="53059" marR="88432" marT="55270" marB="55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quote-cjk-patch"/>
                        </a:rPr>
                        <a:t>Соревнования (название, дата, место, вид спорта)</a:t>
                      </a:r>
                    </a:p>
                  </a:txBody>
                  <a:tcPr marL="88432" marR="53059" marT="55270" marB="55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344941"/>
                  </a:ext>
                </a:extLst>
              </a:tr>
              <a:tr h="428896"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quote-cjk-patch"/>
                        </a:rPr>
                        <a:t>results</a:t>
                      </a:r>
                    </a:p>
                  </a:txBody>
                  <a:tcPr marL="53059" marR="88432" marT="55270" marB="55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  <a:latin typeface="quote-cjk-patch"/>
                        </a:rPr>
                        <a:t>Результаты (место, очки, связи со спортсменом и соревнованием)</a:t>
                      </a:r>
                    </a:p>
                  </a:txBody>
                  <a:tcPr marL="88432" marR="53059" marT="55270" marB="55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703741"/>
                  </a:ext>
                </a:extLst>
              </a:tr>
              <a:tr h="269718">
                <a:tc>
                  <a:txBody>
                    <a:bodyPr/>
                    <a:lstStyle/>
                    <a:p>
                      <a:r>
                        <a:rPr lang="en-US" sz="1000" b="0">
                          <a:effectLst/>
                          <a:latin typeface="quote-cjk-patch"/>
                        </a:rPr>
                        <a:t>training_deletions_log</a:t>
                      </a:r>
                    </a:p>
                  </a:txBody>
                  <a:tcPr marL="53059" marR="88432" marT="55270" marB="55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dirty="0">
                          <a:effectLst/>
                          <a:latin typeface="quote-cjk-patch"/>
                        </a:rPr>
                        <a:t>Лог удалений (для триггера)</a:t>
                      </a:r>
                    </a:p>
                  </a:txBody>
                  <a:tcPr marL="88432" marR="53059" marT="55270" marB="55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26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5835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CA412D-1E05-461D-80F0-D2DF79AD1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Физическая реализация</a:t>
            </a:r>
            <a:br>
              <a:rPr lang="ru-RU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FCC914AC-E2E0-4944-835F-A2EC06C6EA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8613655"/>
              </p:ext>
            </p:extLst>
          </p:nvPr>
        </p:nvGraphicFramePr>
        <p:xfrm>
          <a:off x="1141413" y="2249488"/>
          <a:ext cx="9906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0">
                  <a:extLst>
                    <a:ext uri="{9D8B030D-6E8A-4147-A177-3AD203B41FA5}">
                      <a16:colId xmlns:a16="http://schemas.microsoft.com/office/drawing/2014/main" val="11352513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CREATE TABLE </a:t>
                      </a:r>
                      <a:r>
                        <a:rPr lang="en-US" dirty="0" err="1"/>
                        <a:t>training_sessions</a:t>
                      </a:r>
                      <a:r>
                        <a:rPr lang="en-US" dirty="0"/>
                        <a:t> (</a:t>
                      </a:r>
                    </a:p>
                    <a:p>
                      <a:r>
                        <a:rPr lang="en-US" dirty="0"/>
                        <a:t>    </a:t>
                      </a:r>
                      <a:r>
                        <a:rPr lang="en-US" dirty="0" err="1"/>
                        <a:t>session_id</a:t>
                      </a:r>
                      <a:r>
                        <a:rPr lang="en-US" dirty="0"/>
                        <a:t> INT AUTO_INCREMENT PRIMARY KEY,</a:t>
                      </a:r>
                    </a:p>
                    <a:p>
                      <a:r>
                        <a:rPr lang="en-US" dirty="0"/>
                        <a:t>    </a:t>
                      </a:r>
                      <a:r>
                        <a:rPr lang="en-US" dirty="0" err="1"/>
                        <a:t>athlete_id</a:t>
                      </a:r>
                      <a:r>
                        <a:rPr lang="en-US" dirty="0"/>
                        <a:t> INT NOT NULL,</a:t>
                      </a:r>
                    </a:p>
                    <a:p>
                      <a:r>
                        <a:rPr lang="en-US" dirty="0"/>
                        <a:t>    </a:t>
                      </a:r>
                      <a:r>
                        <a:rPr lang="en-US" dirty="0" err="1"/>
                        <a:t>coach_id</a:t>
                      </a:r>
                      <a:r>
                        <a:rPr lang="en-US" dirty="0"/>
                        <a:t> INT NOT NULL,</a:t>
                      </a:r>
                    </a:p>
                    <a:p>
                      <a:r>
                        <a:rPr lang="en-US" dirty="0"/>
                        <a:t>    </a:t>
                      </a:r>
                      <a:r>
                        <a:rPr lang="en-US" dirty="0" err="1"/>
                        <a:t>sport_id</a:t>
                      </a:r>
                      <a:r>
                        <a:rPr lang="en-US" dirty="0"/>
                        <a:t> INT NOT NULL,</a:t>
                      </a:r>
                    </a:p>
                    <a:p>
                      <a:r>
                        <a:rPr lang="en-US" dirty="0"/>
                        <a:t>    </a:t>
                      </a:r>
                      <a:r>
                        <a:rPr lang="en-US" dirty="0" err="1"/>
                        <a:t>session_date</a:t>
                      </a:r>
                      <a:r>
                        <a:rPr lang="en-US" dirty="0"/>
                        <a:t> DATE NOT NULL,</a:t>
                      </a:r>
                    </a:p>
                    <a:p>
                      <a:r>
                        <a:rPr lang="en-US" dirty="0"/>
                        <a:t>    </a:t>
                      </a:r>
                      <a:r>
                        <a:rPr lang="en-US" dirty="0" err="1"/>
                        <a:t>duration_minutes</a:t>
                      </a:r>
                      <a:r>
                        <a:rPr lang="en-US" dirty="0"/>
                        <a:t> INT CHECK (</a:t>
                      </a:r>
                      <a:r>
                        <a:rPr lang="en-US" dirty="0" err="1"/>
                        <a:t>duration_minutes</a:t>
                      </a:r>
                      <a:r>
                        <a:rPr lang="en-US" dirty="0"/>
                        <a:t> &gt; 0),</a:t>
                      </a:r>
                    </a:p>
                    <a:p>
                      <a:r>
                        <a:rPr lang="en-US" dirty="0"/>
                        <a:t>    </a:t>
                      </a:r>
                      <a:r>
                        <a:rPr lang="en-US" dirty="0" err="1"/>
                        <a:t>intensity_level</a:t>
                      </a:r>
                      <a:r>
                        <a:rPr lang="en-US" dirty="0"/>
                        <a:t> ENUM('</a:t>
                      </a:r>
                      <a:r>
                        <a:rPr lang="en-US" dirty="0" err="1"/>
                        <a:t>Low','Medium','High</a:t>
                      </a:r>
                      <a:r>
                        <a:rPr lang="en-US" dirty="0"/>
                        <a:t>') DEFAULT 'Medium',</a:t>
                      </a:r>
                    </a:p>
                    <a:p>
                      <a:r>
                        <a:rPr lang="en-US" dirty="0"/>
                        <a:t>    notes TEXT,</a:t>
                      </a:r>
                    </a:p>
                    <a:p>
                      <a:r>
                        <a:rPr lang="en-US" dirty="0"/>
                        <a:t>    FOREIGN KEY (</a:t>
                      </a:r>
                      <a:r>
                        <a:rPr lang="en-US" dirty="0" err="1"/>
                        <a:t>athlete_id</a:t>
                      </a:r>
                      <a:r>
                        <a:rPr lang="en-US" dirty="0"/>
                        <a:t>) REFERENCES athletes(</a:t>
                      </a:r>
                      <a:r>
                        <a:rPr lang="en-US" dirty="0" err="1"/>
                        <a:t>athlete_id</a:t>
                      </a:r>
                      <a:r>
                        <a:rPr lang="en-US" dirty="0"/>
                        <a:t>) ON DELETE CASCADE,</a:t>
                      </a:r>
                    </a:p>
                    <a:p>
                      <a:r>
                        <a:rPr lang="en-US" dirty="0"/>
                        <a:t>    FOREIGN KEY (</a:t>
                      </a:r>
                      <a:r>
                        <a:rPr lang="en-US" dirty="0" err="1"/>
                        <a:t>coach_id</a:t>
                      </a:r>
                      <a:r>
                        <a:rPr lang="en-US" dirty="0"/>
                        <a:t>) REFERENCES coaches(</a:t>
                      </a:r>
                      <a:r>
                        <a:rPr lang="en-US" dirty="0" err="1"/>
                        <a:t>coach_id</a:t>
                      </a:r>
                      <a:r>
                        <a:rPr lang="en-US" dirty="0"/>
                        <a:t>) ON DELETE CASCADE,</a:t>
                      </a:r>
                    </a:p>
                    <a:p>
                      <a:r>
                        <a:rPr lang="en-US" dirty="0"/>
                        <a:t>    FOREIGN KEY (</a:t>
                      </a:r>
                      <a:r>
                        <a:rPr lang="en-US" dirty="0" err="1"/>
                        <a:t>sport_id</a:t>
                      </a:r>
                      <a:r>
                        <a:rPr lang="en-US" dirty="0"/>
                        <a:t>) REFERENCES sports(</a:t>
                      </a:r>
                      <a:r>
                        <a:rPr lang="en-US" dirty="0" err="1"/>
                        <a:t>sport_id</a:t>
                      </a:r>
                      <a:r>
                        <a:rPr lang="en-US" dirty="0"/>
                        <a:t>) ON DELETE CASCADE</a:t>
                      </a:r>
                    </a:p>
                    <a:p>
                      <a:r>
                        <a:rPr lang="en-US" dirty="0"/>
                        <a:t>);</a:t>
                      </a:r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762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2757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74D610-9BEB-4486-9197-3788697B8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Хранимые процедуры и функции</a:t>
            </a:r>
            <a:br>
              <a:rPr lang="ru-RU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223ED20-8F25-4690-B2AB-4B037FCF80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6854" y="2506236"/>
            <a:ext cx="9217908" cy="2944331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Процедуры (3 шт.):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AddTraining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– добавление тренировки.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RegisterResult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– регистрация результата соревнования с транзакцией.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GetAthleteSummary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– сводка по спортсмену (использует курсор).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Функции (3 шт.):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GetTotalTrainingTime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(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athlete_id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)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– общее время тренировок (мин).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GetAverageIntensity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(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athlete_id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)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– средняя интенсивность (число от 1 до 3).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GetBestResult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(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athlete_id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sport_id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)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– лучшее место в соревнованиях по виду спорта.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178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11696C-D43B-478C-84DC-C1F101D17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Триггеры и представления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ECB849-9C74-42C4-8D61-1EA393207D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2" y="2548178"/>
            <a:ext cx="9967152" cy="2944331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Триггеры (3 шт.):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trg_check_duration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– запрещает длительность &gt; 240 минут (BEFORE INSERT).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trg_log_training_delete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–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логирует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 удаления тренировок (AFTER DELETE).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trg_update_trainings_count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– обновляет счётчик тренировок у спортсмена (AFTER INSERT).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Представления (3 шт.):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vw_athlete_training_details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– детали тренировок с именами.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vw_competition_results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– результаты соревнований с участниками.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vw_coach_load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– статистика загрузки тренеров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544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40F1C9-4EFE-4334-B41E-73DEE2C90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Тестирование</a:t>
            </a:r>
            <a:br>
              <a:rPr lang="ru-RU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BB8D209-B403-4788-AD25-5D513B809E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2" y="2378901"/>
            <a:ext cx="8665193" cy="3282885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Создание всех таблиц – успешно.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Вставка тестовых данных – успешно.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Функция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GetTotalTrainingTime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(1)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вернула 150 минут (совпадает с ожиданием).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Процедура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AddTraining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добавила новую запись.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Триггер длительности вызвал ошибку при попытке вставить 300 минут.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Триггер счётчика увеличил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total_trainings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на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Представления возвращают корректные соединённые данные.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Транзакция с 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ROLLBACK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отменила изменения.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Все тесты пройдены успешно.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321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E7B425-D0F5-4198-A390-8F4094D2F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 Заключение</a:t>
            </a:r>
            <a:br>
              <a:rPr lang="ru-RU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C8F24E-721C-4ADD-9689-D40A47202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Спроектирована и реализована реляционная БД из 8 таблиц в 3NF.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Разработаны 3 процедуры, 3 функции, 3 триггера, 3 представления.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Проведено тестирование, все компоненты работают корректно.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Практическая значимость: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Может использоваться спортивными клубами, тренерами, федерациями.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Позволяет вести учёт тренировок, анализировать нагрузки и результаты.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Перспективы развития: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Интеграция с носимыми устройствами (пульсометры, GPS).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Веб-интерфейс или мобильное приложение.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Модуль машинного обучения для прогнозирования результатов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3686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42739C-00BE-40A0-A9C0-73113DC62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Ссылка на репозиторий 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AE25342-BD3D-450E-9A6C-5AFE4CE272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3556" y="2097088"/>
            <a:ext cx="3541712" cy="354171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541834-4F99-420A-8996-B9D966E5DD26}"/>
              </a:ext>
            </a:extLst>
          </p:cNvPr>
          <p:cNvSpPr txBox="1"/>
          <p:nvPr/>
        </p:nvSpPr>
        <p:spPr>
          <a:xfrm>
            <a:off x="4142065" y="5754740"/>
            <a:ext cx="6102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https://github.com/Mikail06s/Kursovaya</a:t>
            </a:r>
          </a:p>
        </p:txBody>
      </p:sp>
    </p:spTree>
    <p:extLst>
      <p:ext uri="{BB962C8B-B14F-4D97-AF65-F5344CB8AC3E}">
        <p14:creationId xmlns:p14="http://schemas.microsoft.com/office/powerpoint/2010/main" val="1213764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E79BBC-5364-4B55-98C8-BC27B64FA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Спасибо за внимание!</a:t>
            </a:r>
            <a:br>
              <a:rPr lang="ru-RU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0800FD-19B6-4C97-9EE3-1504DDCBB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54168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{8E9122E6-A606-4692-891D-DACDD8F539F8}TF6d5feb1e-e145-43f1-b745-cb4b54c5ee9733a8a5b4-7ba003f5bf80</Template>
  <TotalTime>136</TotalTime>
  <Words>968</Words>
  <Application>Microsoft Office PowerPoint</Application>
  <PresentationFormat>Широкоэкранный</PresentationFormat>
  <Paragraphs>121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Menlo</vt:lpstr>
      <vt:lpstr>quote-cjk-patch</vt:lpstr>
      <vt:lpstr>Tw Cen MT</vt:lpstr>
      <vt:lpstr>Контур</vt:lpstr>
      <vt:lpstr>Чупо “ВШП” КуРсовой проект Разработка базы данных для тренировки спордсменов</vt:lpstr>
      <vt:lpstr>Актуальность </vt:lpstr>
      <vt:lpstr> Цель и задачи </vt:lpstr>
      <vt:lpstr>Объект и предмет исследования </vt:lpstr>
      <vt:lpstr>Теоретические основы (кратко) </vt:lpstr>
      <vt:lpstr> Выбор СУБД и инструментов </vt:lpstr>
      <vt:lpstr> ER-диаграмма </vt:lpstr>
      <vt:lpstr>Логическая структура </vt:lpstr>
      <vt:lpstr>Физическая реализация </vt:lpstr>
      <vt:lpstr>Хранимые процедуры и функции </vt:lpstr>
      <vt:lpstr>Триггеры и представления</vt:lpstr>
      <vt:lpstr>Тестирование </vt:lpstr>
      <vt:lpstr> Заключение </vt:lpstr>
      <vt:lpstr>Ссылка на репозиторий </vt:lpstr>
      <vt:lpstr>Спасибо за внимание!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STUD-WS-002</dc:creator>
  <cp:lastModifiedBy>STUD-WS-002</cp:lastModifiedBy>
  <cp:revision>2</cp:revision>
  <dcterms:created xsi:type="dcterms:W3CDTF">2026-06-25T12:27:20Z</dcterms:created>
  <dcterms:modified xsi:type="dcterms:W3CDTF">2026-06-25T14:43:45Z</dcterms:modified>
</cp:coreProperties>
</file>